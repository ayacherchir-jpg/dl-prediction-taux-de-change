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Arial"/>
              </a:rPr>
              <a:t>MAE par modèle (TND) — plus bas = meilleur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(TND)</c:v>
                </c:pt>
              </c:strCache>
            </c:strRef>
          </c:tx>
          <c:spPr>
            <a:solidFill>
              <a:srgbClr val="E859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9F2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Transformer</c:v>
                  </c:pt>
                  <c:pt idx="1">
                    <c:v>Référence naïve</c:v>
                  </c:pt>
                  <c:pt idx="2">
                    <c:v>MLP</c:v>
                  </c:pt>
                  <c:pt idx="3">
                    <c:v>BiLSTM</c:v>
                  </c:pt>
                  <c:pt idx="4">
                    <c:v>CNN-LSTM</c:v>
                  </c:pt>
                  <c:pt idx="5">
                    <c:v>LSTM 🏆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0.009955</c:v>
                </c:pt>
                <c:pt idx="1">
                  <c:v>0.009811</c:v>
                </c:pt>
                <c:pt idx="2">
                  <c:v>0.009479</c:v>
                </c:pt>
                <c:pt idx="3">
                  <c:v>0.007977</c:v>
                </c:pt>
                <c:pt idx="4">
                  <c:v>0.00752</c:v>
                </c:pt>
                <c:pt idx="5">
                  <c:v>0.006736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E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274320"/>
            <a:ext cx="2286000" cy="22860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LEARNING · FINANCE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 du Taux de Change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/ TND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Selma Hibe  ·  Cherchir Aya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3703320"/>
            <a:ext cx="137160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3 650 jours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06640" y="3703320"/>
            <a:ext cx="137160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architectures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le taux EUR/TND du lendemain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données macroéconomiques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financières sur 10 ans (2015–2025).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L'EUR/TND est une devise gérée par la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 — tendances lentes et persistantes.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11880"/>
            <a:ext cx="123444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657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3 650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160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09928" y="3611880"/>
            <a:ext cx="123444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9928" y="3657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09928" y="4160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brutes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54096" y="3611880"/>
            <a:ext cx="123444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3657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54096" y="41605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ingénierées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du Dataset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554480"/>
            <a:ext cx="3931920" cy="868680"/>
          </a:xfrm>
          <a:prstGeom prst="rect">
            <a:avLst/>
          </a:prstGeom>
          <a:solidFill>
            <a:srgbClr val="F0F7F8"/>
          </a:solidFill>
          <a:ln w="12700">
            <a:solidFill>
              <a:srgbClr val="C5DD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5910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Macro TN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938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commerciale · PIB · Taux intérêt · Inflation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3931920" cy="868680"/>
          </a:xfrm>
          <a:prstGeom prst="rect">
            <a:avLst/>
          </a:prstGeom>
          <a:solidFill>
            <a:srgbClr val="F0F7F8"/>
          </a:solidFill>
          <a:ln w="12700">
            <a:solidFill>
              <a:srgbClr val="C5DD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5968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Marché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9443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EUR/USD · Brent · Or · EUR/GBP · US 10Y · MSCI 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3931920" cy="868680"/>
          </a:xfrm>
          <a:prstGeom prst="rect">
            <a:avLst/>
          </a:prstGeom>
          <a:solidFill>
            <a:srgbClr val="F0F7F8"/>
          </a:solidFill>
          <a:ln w="12700">
            <a:solidFill>
              <a:srgbClr val="C5D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602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Cible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9502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EUR/TND — log-return journalier → reconstruction prix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DÉCISION CLÉ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décalées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3, 7, 30 jours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201168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Stats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50592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&amp; volatilité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7/14/30j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2011680" cy="1371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Log-Returns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6864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log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7, 30 jours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2011680" cy="13716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0241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Calendrier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03136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· Mois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8595360" cy="2377440"/>
          </a:xfrm>
          <a:prstGeom prst="rect">
            <a:avLst/>
          </a:prstGeom>
          <a:solidFill>
            <a:srgbClr val="FFF8F0"/>
          </a:solidFill>
          <a:ln w="2540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14600"/>
            <a:ext cx="109728" cy="23774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78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Décision Clé — Prédire les Log-Returns, pas le Prix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3749040" cy="1554480"/>
          </a:xfrm>
          <a:prstGeom prst="rect">
            <a:avLst/>
          </a:prstGeom>
          <a:solidFill>
            <a:srgbClr val="FFE8E4"/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27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Prix brut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4930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6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journalier : ~0.001 TND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6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plage de 0.5 TND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6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Modèle apprend la moyenne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6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MAE catastrophique (-500%)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3063240"/>
            <a:ext cx="4343400" cy="1554480"/>
          </a:xfrm>
          <a:prstGeom prst="rect">
            <a:avLst/>
          </a:prstGeom>
          <a:solidFill>
            <a:srgbClr val="E6F9F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127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Log-Return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349300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centré en 0, variance stable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: price = price_{t-1} × e^r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Apprentissage efficace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LSTM : MAE +31% vs naïf 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79392" y="384048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703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ARCHITECTURES DEEP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temporelle : 30 jours  ·  Early Stopping (patience=25)  ·  Log-Return → Reconstruction prix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1600200" cy="3520440"/>
          </a:xfrm>
          <a:prstGeom prst="rect">
            <a:avLst/>
          </a:prstGeom>
          <a:solidFill>
            <a:srgbClr val="1F3864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53312"/>
            <a:ext cx="1600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5331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90195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0195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(n_features)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50392" y="23591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" y="249631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9631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 + BN + Dropout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50392" y="295351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309067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+ Dropout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50392" y="354787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7472" y="368503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68503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50392" y="414223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" y="4279392"/>
            <a:ext cx="14173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27939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Prédiction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1752" y="47548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LR=5e-4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993392" y="1353312"/>
            <a:ext cx="1600200" cy="3520440"/>
          </a:xfrm>
          <a:prstGeom prst="rect">
            <a:avLst/>
          </a:prstGeom>
          <a:solidFill>
            <a:srgbClr val="1F3864"/>
          </a:solidFill>
          <a:ln w="1905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993392" y="1353312"/>
            <a:ext cx="1600200" cy="47548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135331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🏆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84832" y="190195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190195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(30 × n_feat)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87752" y="23591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84832" y="249631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249631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128 (ret_seq=True)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87752" y="295351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84832" y="309067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84832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64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87752" y="354787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084832" y="368503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84832" y="368503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587752" y="414223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84832" y="4279392"/>
            <a:ext cx="1417320" cy="4572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84832" y="427939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Prédiction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039112" y="47548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LR=5e-4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730752" y="1353312"/>
            <a:ext cx="1600200" cy="3520440"/>
          </a:xfrm>
          <a:prstGeom prst="rect">
            <a:avLst/>
          </a:prstGeom>
          <a:solidFill>
            <a:srgbClr val="1F3864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730752" y="1353312"/>
            <a:ext cx="1600200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30752" y="135331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BiLSTM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22192" y="190195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22192" y="190195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LSTM 64 + Bwd LSTM 64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325112" y="23591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822192" y="249631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22192" y="249631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(128)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325112" y="295351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822192" y="309067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22192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32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325112" y="354787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22192" y="368503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22192" y="368503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325112" y="414223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22192" y="4279392"/>
            <a:ext cx="141732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22192" y="427939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Prédiction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776472" y="47548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LR=5e-4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468112" y="1353312"/>
            <a:ext cx="1600200" cy="3520440"/>
          </a:xfrm>
          <a:prstGeom prst="rect">
            <a:avLst/>
          </a:prstGeom>
          <a:solidFill>
            <a:srgbClr val="1F3864"/>
          </a:solidFill>
          <a:ln w="1905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468112" y="1353312"/>
            <a:ext cx="1600200" cy="47548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68112" y="135331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CNN-LSTM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559552" y="190195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59552" y="190195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64 (causal)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062472" y="23591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559552" y="249631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59552" y="249631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32 + MaxPool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062472" y="295351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559552" y="309067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59552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64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062472" y="354787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559552" y="368503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59552" y="368503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062472" y="414223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559552" y="4279392"/>
            <a:ext cx="1417320" cy="4572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59552" y="427939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Prédiction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513832" y="47548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LR=3e-4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205472" y="1353312"/>
            <a:ext cx="1600200" cy="3520440"/>
          </a:xfrm>
          <a:prstGeom prst="rect">
            <a:avLst/>
          </a:prstGeom>
          <a:solidFill>
            <a:srgbClr val="1F3864"/>
          </a:solidFill>
          <a:ln w="19050">
            <a:solidFill>
              <a:srgbClr val="E859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205472" y="1353312"/>
            <a:ext cx="1600200" cy="475488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05472" y="135331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7296912" y="190195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96912" y="190195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32 + Pos.Emb.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799832" y="23591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296912" y="249631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96912" y="249631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(2 heads) × 2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799832" y="295351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296912" y="309067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296912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GlobalAvgPool1D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799832" y="354787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296912" y="3685032"/>
            <a:ext cx="141732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96912" y="368503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799832" y="414223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</a:rPr>
              <a:t>↓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296912" y="4279392"/>
            <a:ext cx="1417320" cy="45720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96912" y="4279392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Prédiction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251192" y="47548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LR=2e-4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COMPARAISON DES MODÈLES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14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Modèles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371600"/>
            <a:ext cx="31089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371600"/>
            <a:ext cx="109728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25312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25312" y="17556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0.00674 TND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25312" y="20299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MAPE: 0.20%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0" y="175564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+31.3%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760720" y="2560320"/>
            <a:ext cx="31089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560320"/>
            <a:ext cx="109728" cy="10515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2606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CNN-LSTM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25312" y="29443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0.00752 TND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925312" y="32186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MAPE: 0.22%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98080" y="294436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9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+23.3%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760720" y="3749040"/>
            <a:ext cx="31089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749040"/>
            <a:ext cx="109728" cy="10515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25312" y="3794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BiLSTM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25312" y="41330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0.00798 TND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25312" y="44074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MAPE: 0.24%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98080" y="413308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+18.7%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760720" y="4572000"/>
            <a:ext cx="310896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naïve :  MAE = 0.00981 TND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&amp; ENTRAÎNEMENT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685800" cy="6858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1600200" cy="1234440"/>
          </a:xfrm>
          <a:prstGeom prst="rect">
            <a:avLst/>
          </a:prstGeom>
          <a:solidFill>
            <a:srgbClr val="F0F7F8"/>
          </a:solidFill>
          <a:ln w="1524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 + Yahoo Finance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2015–2025 · 3 650 jours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01952" y="12801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60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11680" y="1719072"/>
            <a:ext cx="1600200" cy="1234440"/>
          </a:xfrm>
          <a:prstGeom prst="rect">
            <a:avLst/>
          </a:prstGeom>
          <a:solidFill>
            <a:srgbClr val="F0F7F8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1214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(limit=5)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doublons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39312" y="12801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960120"/>
            <a:ext cx="685800" cy="6858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960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49040" y="1719072"/>
            <a:ext cx="1600200" cy="1234440"/>
          </a:xfrm>
          <a:prstGeom prst="rect">
            <a:avLst/>
          </a:prstGeom>
          <a:solidFill>
            <a:srgbClr val="F0F7F8"/>
          </a:solidFill>
          <a:ln w="1524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21214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features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· Rolling · Returns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76672" y="12801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0" y="960120"/>
            <a:ext cx="685800" cy="68580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960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0" y="1719072"/>
            <a:ext cx="1600200" cy="1234440"/>
          </a:xfrm>
          <a:prstGeom prst="rect">
            <a:avLst/>
          </a:prstGeom>
          <a:solidFill>
            <a:srgbClr val="F0F7F8"/>
          </a:solidFill>
          <a:ln w="1524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0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80/20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21214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Chronologique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data leakage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14032" y="12801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80960" y="960120"/>
            <a:ext cx="685800" cy="685800"/>
          </a:xfrm>
          <a:prstGeom prst="ellipse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960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23760" y="1719072"/>
            <a:ext cx="1600200" cy="1234440"/>
          </a:xfrm>
          <a:prstGeom prst="rect">
            <a:avLst/>
          </a:prstGeom>
          <a:solidFill>
            <a:srgbClr val="F0F7F8"/>
          </a:solidFill>
          <a:ln w="15240">
            <a:solidFill>
              <a:srgbClr val="E859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17556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Séquences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21214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30 jours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063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d'Entraînement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93008"/>
          <a:ext cx="4114800" cy="146304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+ clipnorm=1.0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(log-returns)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(64 Transformer)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2e-4 → 5e-4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4754880" y="3063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de Régularisation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754880" y="3493008"/>
            <a:ext cx="4114800" cy="347472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0" y="3520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Early Stopping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675120" y="35204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patience=25 · restore_best_weights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54880" y="3877056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0" y="39044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ReduceLROnPlateau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675120" y="39044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factor=0.5 · patience=10 · min_lr=1e-7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754880" y="4261104"/>
            <a:ext cx="4114800" cy="347472"/>
          </a:xfrm>
          <a:prstGeom prst="rect">
            <a:avLst/>
          </a:prstGeom>
          <a:solidFill>
            <a:srgbClr val="F0F7F8"/>
          </a:solidFill>
          <a:ln w="6350">
            <a:solidFill>
              <a:srgbClr val="C5DDE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46320" y="42885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L2 Régularisation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675120" y="428853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kernel_regularizer=1e-4 (LSTM)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754880" y="4645152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D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46320" y="46725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Dropout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675120" y="46725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– 0.3 selon les couches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F3864"/>
          </a:solidFill>
          <a:ln w="2540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F9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 LSTM — Meilleur Modèle  ·  MAE = 0.00674 TND  ·  MAPE = 0.20%  ·  +31.3% vs naïf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2788920" cy="283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Ce qui fonctionne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60604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: mémoire séquentielle adaptée aux tendances BCT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: détection de patterns locaux (semaine, mois)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Log-return : décision clé qui débloque l'apprentissage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029968"/>
            <a:ext cx="2788920" cy="283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Limites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260604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: nécessite 10× plus de données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limitée à 1 jour (horizon court)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de crise imprévisibles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2029968"/>
            <a:ext cx="2788920" cy="283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2103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Perspectives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260604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des meilleurs modèles DL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 mensuel automatique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 la dérive des données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Selma Hibe  ·  Cherchir Aya  ·  2025  ·  github.com/ayacherchir-jpg/DL-prediction-taux-de-change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EUR/TND Deep Learning</dc:title>
  <dc:subject>PptxGenJS Presentation</dc:subject>
  <dc:creator>PptxGenJS</dc:creator>
  <cp:lastModifiedBy>PptxGenJS</cp:lastModifiedBy>
  <cp:revision>1</cp:revision>
  <dcterms:created xsi:type="dcterms:W3CDTF">2026-05-21T20:57:20Z</dcterms:created>
  <dcterms:modified xsi:type="dcterms:W3CDTF">2026-05-21T20:57:20Z</dcterms:modified>
</cp:coreProperties>
</file>